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IoT Edge Bridge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Métier Complet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automatique de signes vitaux Legacy → BIHR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41148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Noël Junior Yando Fotso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TS6 Technologies de la Santé · EPHEC Brussels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 Bridge · EPHEC Brussels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Rôles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292608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RETENU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automatique d'une mesure de signes vitaux (SpO₂, FC, PA) émise par un moniteur patient Legacy (RS-232) dans le BIHR, via l'IoT Edge Bridge.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931920" cy="868680"/>
          </a:xfrm>
          <a:prstGeom prst="rect">
            <a:avLst/>
          </a:prstGeom>
          <a:solidFill>
            <a:srgbClr val="EEECE7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057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13969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947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Moniteur Legacy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22219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Émet trames série RS-232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technique passif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874520"/>
            <a:ext cx="3931920" cy="868680"/>
          </a:xfrm>
          <a:prstGeom prst="rect">
            <a:avLst/>
          </a:prstGeom>
          <a:solidFill>
            <a:srgbClr val="E6F1FB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2057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13969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947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 Bridge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94960" y="22219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Parse, normalise, mappe FHIR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 au portail eHealth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834640"/>
            <a:ext cx="3931920" cy="868680"/>
          </a:xfrm>
          <a:prstGeom prst="rect">
            <a:avLst/>
          </a:prstGeom>
          <a:solidFill>
            <a:srgbClr val="FAEEDA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09981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907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Biomédical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88720" y="3182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 via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alertes d'erreurs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63440" y="2834640"/>
            <a:ext cx="3931920" cy="868680"/>
          </a:xfrm>
          <a:prstGeom prst="rect">
            <a:avLst/>
          </a:prstGeom>
          <a:solidFill>
            <a:srgbClr val="E1F5EE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3017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309981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2907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Infirmier / Clinicien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394960" y="3182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données dans DMI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Bénéficiaire final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3794760"/>
            <a:ext cx="3931920" cy="868680"/>
          </a:xfrm>
          <a:prstGeom prst="rect">
            <a:avLst/>
          </a:prstGeom>
          <a:solidFill>
            <a:srgbClr val="FAEEDA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4360" y="3977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05993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3867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eHealth BE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88720" y="4142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FHIR R4 via mTLS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vers MetaHub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663440" y="3794760"/>
            <a:ext cx="3931920" cy="868680"/>
          </a:xfrm>
          <a:prstGeom prst="rect">
            <a:avLst/>
          </a:prstGeom>
          <a:solidFill>
            <a:srgbClr val="E1F5EE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00600" y="3977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4059936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94960" y="3867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BIHR / MetaHub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394960" y="4142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patient unique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finale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 Bridge · EPHEC Brussels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 / Outputs / Dépendances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188720"/>
          </a:xfrm>
          <a:prstGeom prst="rect">
            <a:avLst/>
          </a:prstGeom>
          <a:solidFill>
            <a:srgbClr val="E6F1FB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déclencheur humain — processus déclenché automatiquement par la réception d'une trame RS-232 valide du moniteur Legacy.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188720"/>
          </a:xfrm>
          <a:prstGeom prst="rect">
            <a:avLst/>
          </a:prstGeom>
          <a:solidFill>
            <a:srgbClr val="E1F5EE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Observation → BIHR / MetaHub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Device → Portail eHealth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transmission → Dashboard BM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push (si anomalie)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201 ACK → IoT Edge Bridge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&amp; PROTOCOLES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103120"/>
                <a:gridCol w="2103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RS-232 Listener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Moniteur → Bridge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Série RS-232 (9600 bps)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ASCII / binaire propriétaire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Profile Resolver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locale → Bridge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 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 champs ↔ FHIR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 Resolver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→ Service 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/ HL7 FHIR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REST Client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→ Portail eHealth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+ mTLS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WebSocket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→ Dashboard 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WSS (sécurisé)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status event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572000"/>
            <a:ext cx="1920240" cy="256032"/>
          </a:xfrm>
          <a:prstGeom prst="rect">
            <a:avLst/>
          </a:prstGeom>
          <a:solidFill>
            <a:srgbClr val="EEECE7"/>
          </a:solidFill>
          <a:ln w="6350">
            <a:solidFill>
              <a:srgbClr val="E0DE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572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14600" y="4572000"/>
            <a:ext cx="1920240" cy="256032"/>
          </a:xfrm>
          <a:prstGeom prst="rect">
            <a:avLst/>
          </a:prstGeom>
          <a:solidFill>
            <a:srgbClr val="EEECE7"/>
          </a:solidFill>
          <a:ln w="6350">
            <a:solidFill>
              <a:srgbClr val="E0DE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14600" y="4572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profils appareils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0" y="4572000"/>
            <a:ext cx="1920240" cy="256032"/>
          </a:xfrm>
          <a:prstGeom prst="rect">
            <a:avLst/>
          </a:prstGeom>
          <a:solidFill>
            <a:srgbClr val="EEECE7"/>
          </a:solidFill>
          <a:ln w="6350">
            <a:solidFill>
              <a:srgbClr val="E0D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4572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mTLS (eHealth PKI)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629400" y="4572000"/>
            <a:ext cx="1920240" cy="256032"/>
          </a:xfrm>
          <a:prstGeom prst="rect">
            <a:avLst/>
          </a:prstGeom>
          <a:solidFill>
            <a:srgbClr val="EEECE7"/>
          </a:solidFill>
          <a:ln w="6350">
            <a:solidFill>
              <a:srgbClr val="E0DE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4572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FHIR R4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 Bridge · EPHEC Brussels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Métier — Swimlane BPMN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7315200" cy="731520"/>
          </a:xfrm>
          <a:prstGeom prst="rect">
            <a:avLst/>
          </a:prstGeom>
          <a:solidFill>
            <a:srgbClr val="EEECE7">
              <a:alpha val="60000"/>
            </a:srgbClr>
          </a:solidFill>
          <a:ln w="3810">
            <a:solidFill>
              <a:srgbClr val="E0D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1097280" cy="731520"/>
          </a:xfrm>
          <a:prstGeom prst="rect">
            <a:avLst/>
          </a:prstGeom>
          <a:solidFill>
            <a:srgbClr val="EEECE7"/>
          </a:solidFill>
          <a:ln w="3810">
            <a:solidFill>
              <a:srgbClr val="E0D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Moniteur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7315200" cy="1371600"/>
          </a:xfrm>
          <a:prstGeom prst="rect">
            <a:avLst/>
          </a:prstGeom>
          <a:solidFill>
            <a:srgbClr val="E6F1FB">
              <a:alpha val="60000"/>
            </a:srgbClr>
          </a:solidFill>
          <a:ln w="3810">
            <a:solidFill>
              <a:srgbClr val="E0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45920"/>
            <a:ext cx="1097280" cy="1371600"/>
          </a:xfrm>
          <a:prstGeom prst="rect">
            <a:avLst/>
          </a:prstGeom>
          <a:solidFill>
            <a:srgbClr val="E6F1FB"/>
          </a:solidFill>
          <a:ln w="3810">
            <a:solidFill>
              <a:srgbClr val="E0D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45920"/>
            <a:ext cx="1097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3017520"/>
            <a:ext cx="7315200" cy="640080"/>
          </a:xfrm>
          <a:prstGeom prst="rect">
            <a:avLst/>
          </a:prstGeom>
          <a:solidFill>
            <a:srgbClr val="FAEEDA">
              <a:alpha val="60000"/>
            </a:srgbClr>
          </a:solidFill>
          <a:ln w="3810">
            <a:solidFill>
              <a:srgbClr val="E0D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017520"/>
            <a:ext cx="1097280" cy="640080"/>
          </a:xfrm>
          <a:prstGeom prst="rect">
            <a:avLst/>
          </a:prstGeom>
          <a:solidFill>
            <a:srgbClr val="FAEEDA"/>
          </a:solidFill>
          <a:ln w="3810">
            <a:solidFill>
              <a:srgbClr val="E0D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0175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Biomédical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3657600"/>
            <a:ext cx="7315200" cy="731520"/>
          </a:xfrm>
          <a:prstGeom prst="rect">
            <a:avLst/>
          </a:prstGeom>
          <a:solidFill>
            <a:srgbClr val="E1F5EE">
              <a:alpha val="60000"/>
            </a:srgbClr>
          </a:solidFill>
          <a:ln w="3810">
            <a:solidFill>
              <a:srgbClr val="E0D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657600"/>
            <a:ext cx="1097280" cy="731520"/>
          </a:xfrm>
          <a:prstGeom prst="rect">
            <a:avLst/>
          </a:prstGeom>
          <a:solidFill>
            <a:srgbClr val="E1F5EE"/>
          </a:solidFill>
          <a:ln w="3810">
            <a:solidFill>
              <a:srgbClr val="E0D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657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eHealth/BIHR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54480" y="1097280"/>
            <a:ext cx="320040" cy="320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5A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1261872"/>
            <a:ext cx="228600" cy="0"/>
          </a:xfrm>
          <a:prstGeom prst="line">
            <a:avLst/>
          </a:prstGeom>
          <a:noFill/>
          <a:ln w="15240">
            <a:solidFill>
              <a:srgbClr val="5A5A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1024128"/>
            <a:ext cx="1097280" cy="502920"/>
          </a:xfrm>
          <a:prstGeom prst="rect">
            <a:avLst/>
          </a:prstGeom>
          <a:solidFill>
            <a:srgbClr val="EEECE7"/>
          </a:solidFill>
          <a:ln w="6350">
            <a:solidFill>
              <a:srgbClr val="5A5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0" y="10241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trame RS-232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1527048"/>
            <a:ext cx="0" cy="393192"/>
          </a:xfrm>
          <a:prstGeom prst="line">
            <a:avLst/>
          </a:prstGeom>
          <a:noFill/>
          <a:ln w="15240">
            <a:solidFill>
              <a:srgbClr val="5A5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1920240"/>
            <a:ext cx="1097280" cy="50292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0" y="1920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brut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176272"/>
            <a:ext cx="274320" cy="0"/>
          </a:xfrm>
          <a:prstGeom prst="line">
            <a:avLst/>
          </a:prstGeom>
          <a:noFill/>
          <a:ln w="15240">
            <a:solidFill>
              <a:srgbClr val="185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1920240"/>
            <a:ext cx="1097280" cy="50292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0" y="1920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2176272"/>
            <a:ext cx="274320" cy="0"/>
          </a:xfrm>
          <a:prstGeom prst="line">
            <a:avLst/>
          </a:prstGeom>
          <a:noFill/>
          <a:ln w="15240">
            <a:solidFill>
              <a:srgbClr val="185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920240"/>
            <a:ext cx="1097280" cy="50292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1920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0" y="2176272"/>
            <a:ext cx="274320" cy="0"/>
          </a:xfrm>
          <a:prstGeom prst="line">
            <a:avLst/>
          </a:prstGeom>
          <a:noFill/>
          <a:ln w="15240">
            <a:solidFill>
              <a:srgbClr val="185F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6263640" y="1993392"/>
            <a:ext cx="365760" cy="365760"/>
          </a:xfrm>
          <a:prstGeom prst="rect">
            <a:avLst/>
          </a:prstGeom>
          <a:solidFill>
            <a:srgbClr val="F5F4F0"/>
          </a:solidFill>
          <a:ln w="12700">
            <a:solidFill>
              <a:srgbClr val="5A5A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9400" y="2176272"/>
            <a:ext cx="228600" cy="0"/>
          </a:xfrm>
          <a:prstGeom prst="line">
            <a:avLst/>
          </a:prstGeom>
          <a:noFill/>
          <a:ln w="15240">
            <a:solidFill>
              <a:srgbClr val="0F6E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19019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58000" y="1920240"/>
            <a:ext cx="1097280" cy="502920"/>
          </a:xfrm>
          <a:prstGeom prst="rect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0" y="1920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mTLS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80760" y="24231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446520" y="2359152"/>
            <a:ext cx="0" cy="749808"/>
          </a:xfrm>
          <a:prstGeom prst="line">
            <a:avLst/>
          </a:prstGeom>
          <a:noFill/>
          <a:ln w="15240">
            <a:solidFill>
              <a:srgbClr val="854F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3063240"/>
            <a:ext cx="1097280" cy="457200"/>
          </a:xfrm>
          <a:prstGeom prst="rect">
            <a:avLst/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97880" y="3063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push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06640" y="2423160"/>
            <a:ext cx="0" cy="1371600"/>
          </a:xfrm>
          <a:prstGeom prst="line">
            <a:avLst/>
          </a:prstGeom>
          <a:noFill/>
          <a:ln w="15240">
            <a:solidFill>
              <a:srgbClr val="0F6E5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3749040"/>
            <a:ext cx="1097280" cy="502920"/>
          </a:xfrm>
          <a:prstGeom prst="rect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5800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BIHR (MetaHub)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38160" y="3840480"/>
            <a:ext cx="320040" cy="320040"/>
          </a:xfrm>
          <a:prstGeom prst="ellipse">
            <a:avLst/>
          </a:prstGeom>
          <a:solidFill>
            <a:srgbClr val="5A5A56"/>
          </a:solidFill>
          <a:ln w="19050">
            <a:solidFill>
              <a:srgbClr val="5A5A5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55280" y="4005072"/>
            <a:ext cx="182880" cy="0"/>
          </a:xfrm>
          <a:prstGeom prst="line">
            <a:avLst/>
          </a:prstGeom>
          <a:noFill/>
          <a:ln w="15240">
            <a:solidFill>
              <a:srgbClr val="5A5A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nominal = flèches pleines · Chemin d'erreur = tirets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 Bridge · EPHEC Brussels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Émission &amp; Capture RS-232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51560"/>
            <a:ext cx="457200" cy="457200"/>
          </a:xfrm>
          <a:prstGeom prst="ellipse">
            <a:avLst/>
          </a:prstGeom>
          <a:solidFill>
            <a:srgbClr val="E6F1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1338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des données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moniteur patient (ex. Philips IntelliVue MX700) mesure SpO₂, FC et PA en continu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 d'une trame ASCII toutes les 30s sur port RS-232 (protocole propriétaire)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connectée via adaptateur USB-série certifié (câble null-modem, aucune modification)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RS-232 : écoute continue à 9600 bps, 8N1, buffering immédiat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UTC ajouté dès réception (indépendant du timestamp constructeur)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914400"/>
            <a:ext cx="30175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371600"/>
          <a:ext cx="26974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Trame RS-232 brute bufférisée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ASCII / binaire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UTC acquisition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8601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ID (port série)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identifiant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393192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MDR 2017/745 : aucune modification du firmware ni du câblage interne. La connexion RS-232 est passive (lecture seule).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 Bridge · EPHEC Brussels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2-3-4 — Parsing, Mapping FHIR, Validation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060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005840"/>
            <a:ext cx="411480" cy="41148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26" y="10799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960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Normalisation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868680"/>
            <a:ext cx="54864" cy="310896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5544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profil appareil (Device ID → config JSON)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Décodage propriétaire : extraction champs, conversion unités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: objet normalisé {spO2, heartRate, bp_sys, bp_dia, unit, ts}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868680"/>
            <a:ext cx="26060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005840"/>
            <a:ext cx="411480" cy="411480"/>
          </a:xfrm>
          <a:prstGeom prst="ellipse">
            <a:avLst/>
          </a:prstGeom>
          <a:solidFill>
            <a:srgbClr val="E6F1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066" y="10799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960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FHIR R4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91840" y="868680"/>
            <a:ext cx="54864" cy="31089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4" name="Text 10"/>
          <p:cNvSpPr/>
          <p:nvPr/>
        </p:nvSpPr>
        <p:spPr>
          <a:xfrm>
            <a:off x="3429000" y="15544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grandeur → ressource FHIR Observation (LOINC codes)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Device (DeviceMetric + UDI)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patient via service INS (ID chambre → INS belge)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868680"/>
            <a:ext cx="26060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1005840"/>
            <a:ext cx="411480" cy="411480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706" y="10799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960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Enrichissement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868680"/>
            <a:ext cx="54864" cy="310896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20" name="Text 15"/>
          <p:cNvSpPr/>
          <p:nvPr/>
        </p:nvSpPr>
        <p:spPr>
          <a:xfrm>
            <a:off x="6263640" y="155448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clinique : SpO₂ ∈ [50,100]%, FC ∈ [20,300] bpm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INS (échec → quarantaine + alerte)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métadonnées : status=final, effectiveDateTime, performer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971800" y="20116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892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5806440" y="20116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892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45720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STEP 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0624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377440"/>
                <a:gridCol w="237744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Observation validée (×3)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Agent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JSON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Device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Agent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JSON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Alerte si INS non résolu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Technicien BM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push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 Bridge · EPHEC Brussels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5-6 — Transport sécurisé &amp; Publication BIHR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26060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" y="11256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Transport HTTPS / mTLS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5087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FHIR dans POST /fhir/R4/Bundle (transaction atomique)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mutuelle mTLS avec certificat eHealth PKI belge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d'échec réseau (timeout &gt; 10s) : retry exponentiel ×3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: file d'attente locale chiffrée (SQLite WAL) + alerte technicien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868680"/>
            <a:ext cx="39319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868680"/>
            <a:ext cx="54864" cy="260604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1" name="Shape 8"/>
          <p:cNvSpPr/>
          <p:nvPr/>
        </p:nvSpPr>
        <p:spPr>
          <a:xfrm>
            <a:off x="4937760" y="1051560"/>
            <a:ext cx="411480" cy="411480"/>
          </a:xfrm>
          <a:prstGeom prst="ellipse">
            <a:avLst/>
          </a:prstGeom>
          <a:solidFill>
            <a:srgbClr val="E6F1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826" y="112562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Publication BIHR &amp; Confirmation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37760" y="15087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eHealth valide conformité FHIR R4 + identité mTLS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MetaHub indexe ressources dans BIHR (identifié par INS)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accessibles aux cliniciens via DMI (Omnipro)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HTTP 201 Created + IDs FHIR → log + dashboard temps réel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3566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FIN DE PROCESSUS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377440"/>
                <a:gridCol w="23774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Observations SpO₂ / FC / PA publiées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BIHR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JSON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enregistrée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BIHR (MetaHub)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JSON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 HTTP 201 + IDs FHIR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logger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+ JSON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succès temps réel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BM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5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WSS event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scope : prescription, facturation INAMI, modification firmware, interprétation clinique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 Bridge · EPHEC Brussels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Fonctionnelle — Vue SI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de gestion · Fonctions métier · Systèmes porteurs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292608"/>
          </a:xfrm>
          <a:prstGeom prst="rect">
            <a:avLst/>
          </a:prstGeom>
          <a:solidFill>
            <a:srgbClr val="0C2D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DE GESTION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560320" cy="292608"/>
          </a:xfrm>
          <a:prstGeom prst="rect">
            <a:avLst/>
          </a:prstGeom>
          <a:solidFill>
            <a:srgbClr val="0C2D4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0058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MÉTIER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2743200" cy="292608"/>
          </a:xfrm>
          <a:prstGeom prst="rect">
            <a:avLst/>
          </a:prstGeom>
          <a:solidFill>
            <a:srgbClr val="0C2D4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0058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PORTEURS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2560320" cy="530352"/>
          </a:xfrm>
          <a:prstGeom prst="rect">
            <a:avLst/>
          </a:prstGeom>
          <a:solidFill>
            <a:srgbClr val="EEECE7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41732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Mesure_Legacy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9461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trame RS-232 brute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2560320" cy="530352"/>
          </a:xfrm>
          <a:prstGeom prst="rect">
            <a:avLst/>
          </a:prstGeom>
          <a:solidFill>
            <a:srgbClr val="EEECE7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05740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Signal_Normalisé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269541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décodés + unités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560320" cy="530352"/>
          </a:xfrm>
          <a:prstGeom prst="rect">
            <a:avLst/>
          </a:prstGeom>
          <a:solidFill>
            <a:srgbClr val="E6F1FB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69748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Ressource_FHIR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909621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/ Device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2560320" cy="530352"/>
          </a:xfrm>
          <a:prstGeom prst="rect">
            <a:avLst/>
          </a:prstGeom>
          <a:solidFill>
            <a:srgbClr val="E1F5EE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33756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Statut_Transmission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549701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succès / erreur / retry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2560320" cy="530352"/>
          </a:xfrm>
          <a:prstGeom prst="rect">
            <a:avLst/>
          </a:prstGeom>
          <a:solidFill>
            <a:srgbClr val="FAEEDA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97764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Alerte_Anomalie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189781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technicien BM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1417320"/>
            <a:ext cx="2560320" cy="530352"/>
          </a:xfrm>
          <a:prstGeom prst="rect">
            <a:avLst/>
          </a:prstGeom>
          <a:solidFill>
            <a:srgbClr val="E6F1FB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91840" y="141732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Écoute_RS232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1629461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continu 9600bps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17520" y="1682496"/>
            <a:ext cx="18288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057400"/>
            <a:ext cx="2560320" cy="530352"/>
          </a:xfrm>
          <a:prstGeom prst="rect">
            <a:avLst/>
          </a:prstGeom>
          <a:solidFill>
            <a:srgbClr val="E6F1FB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91840" y="205740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Parsing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2269541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décodage + conversion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17520" y="2322576"/>
            <a:ext cx="18288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697480"/>
            <a:ext cx="2560320" cy="530352"/>
          </a:xfrm>
          <a:prstGeom prst="rect">
            <a:avLst/>
          </a:prstGeom>
          <a:solidFill>
            <a:srgbClr val="E6F1FB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91840" y="269748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Mapping_FHIR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2909621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 + INS + Device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17520" y="2962656"/>
            <a:ext cx="18288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3337560"/>
            <a:ext cx="2560320" cy="530352"/>
          </a:xfrm>
          <a:prstGeom prst="rect">
            <a:avLst/>
          </a:prstGeom>
          <a:solidFill>
            <a:srgbClr val="E1F5EE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91840" y="333756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Transport_mTLS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0" y="3549701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Bundle FHIR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017520" y="3602736"/>
            <a:ext cx="18288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3977640"/>
            <a:ext cx="2560320" cy="530352"/>
          </a:xfrm>
          <a:prstGeom prst="rect">
            <a:avLst/>
          </a:prstGeom>
          <a:solidFill>
            <a:srgbClr val="FAEEDA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91840" y="3977640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Monitoring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91840" y="4189781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alertes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017520" y="4242816"/>
            <a:ext cx="18288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417320"/>
            <a:ext cx="2743200" cy="1810512"/>
          </a:xfrm>
          <a:prstGeom prst="rect">
            <a:avLst/>
          </a:prstGeom>
          <a:solidFill>
            <a:srgbClr val="E6F1FB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03504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Core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35040" y="1783080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F2 · F3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 / Rust)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60720" y="2322576"/>
            <a:ext cx="18288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3337560"/>
            <a:ext cx="2743200" cy="530352"/>
          </a:xfrm>
          <a:prstGeom prst="rect">
            <a:avLst/>
          </a:prstGeom>
          <a:solidFill>
            <a:srgbClr val="E1F5EE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03504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Agent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035040" y="3703320"/>
            <a:ext cx="2560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(FHIR client)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60720" y="3602736"/>
            <a:ext cx="18288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43600" y="3977640"/>
            <a:ext cx="2743200" cy="530352"/>
          </a:xfrm>
          <a:prstGeom prst="rect">
            <a:avLst/>
          </a:prstGeom>
          <a:solidFill>
            <a:srgbClr val="FAEEDA"/>
          </a:solidFill>
          <a:ln w="3810">
            <a:solidFill>
              <a:srgbClr val="E0D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0350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35040" y="4343400"/>
            <a:ext cx="2560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(WebSocket)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60720" y="4242816"/>
            <a:ext cx="18288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 Bridge · EPHEC Brussels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Synthèse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8288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554480"/>
            <a:ext cx="18288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3464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intervention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554480"/>
            <a:ext cx="18288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5B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FHIR R4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d'interopérabilité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554480"/>
            <a:ext cx="18288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mTLS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2240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bout-en-bout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L'IoT Edge Bridge transforme des équipements Legacy isolés en sources de données interopérables au sein de l'écosystème eHealth belge, tout en respectant le cadre réglementaire MDR 2017/745.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4114800" cy="640080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14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Noël Junior Yando Fotso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TS6 Technologies de la Santé · EPHEC Brussels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85B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attention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Edge Bridge · EPHEC Brussels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Edge Bridge — Processus Métier Complet</dc:title>
  <dc:subject>PptxGenJS Presentation</dc:subject>
  <dc:creator>Noël Junior Yando Fotso</dc:creator>
  <cp:lastModifiedBy>Noël Junior Yando Fotso</cp:lastModifiedBy>
  <cp:revision>1</cp:revision>
  <dcterms:created xsi:type="dcterms:W3CDTF">2026-03-30T14:42:56Z</dcterms:created>
  <dcterms:modified xsi:type="dcterms:W3CDTF">2026-03-30T14:42:56Z</dcterms:modified>
</cp:coreProperties>
</file>